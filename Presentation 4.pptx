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12D40B-B6F9-7292-65D1-A3B1DBF6653D}" v="638" dt="2025-11-03T15:45:04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06BC86-3B56-410F-B69F-CA4A5312ADB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5A65BF-95EA-48DC-A1DE-C4B1A05BA240}">
      <dgm:prSet/>
      <dgm:spPr/>
      <dgm:t>
        <a:bodyPr/>
        <a:lstStyle/>
        <a:p>
          <a:r>
            <a:rPr lang="en-GB"/>
            <a:t>✔</a:t>
          </a:r>
          <a:r>
            <a:rPr lang="en-GB" b="1"/>
            <a:t>Implement</a:t>
          </a:r>
          <a:r>
            <a:rPr lang="en-GB"/>
            <a:t> Artificial Neural Network (ANN) and Convolutional Neural Network (CNN) using</a:t>
          </a:r>
          <a:endParaRPr lang="en-US"/>
        </a:p>
      </dgm:t>
    </dgm:pt>
    <dgm:pt modelId="{B367C26F-EE97-4BFF-972E-0F74343B1BB7}" type="parTrans" cxnId="{AE710FA5-DC5F-43B4-8E6F-24E6FC166F05}">
      <dgm:prSet/>
      <dgm:spPr/>
      <dgm:t>
        <a:bodyPr/>
        <a:lstStyle/>
        <a:p>
          <a:endParaRPr lang="en-US"/>
        </a:p>
      </dgm:t>
    </dgm:pt>
    <dgm:pt modelId="{2C8A9E4A-0438-400F-AF42-ED4D8CA1C031}" type="sibTrans" cxnId="{AE710FA5-DC5F-43B4-8E6F-24E6FC166F05}">
      <dgm:prSet/>
      <dgm:spPr/>
      <dgm:t>
        <a:bodyPr/>
        <a:lstStyle/>
        <a:p>
          <a:endParaRPr lang="en-US"/>
        </a:p>
      </dgm:t>
    </dgm:pt>
    <dgm:pt modelId="{98FE123E-65D0-434A-901C-B7BEC8633401}">
      <dgm:prSet/>
      <dgm:spPr/>
      <dgm:t>
        <a:bodyPr/>
        <a:lstStyle/>
        <a:p>
          <a:r>
            <a:rPr lang="en-GB" b="1"/>
            <a:t>PyTorch</a:t>
          </a:r>
          <a:endParaRPr lang="en-US"/>
        </a:p>
      </dgm:t>
    </dgm:pt>
    <dgm:pt modelId="{4F73DD51-3E9C-4D79-BDC1-87F285EB5140}" type="parTrans" cxnId="{0A2BFAF1-C28A-4594-81DA-BBE68DEDC69E}">
      <dgm:prSet/>
      <dgm:spPr/>
      <dgm:t>
        <a:bodyPr/>
        <a:lstStyle/>
        <a:p>
          <a:endParaRPr lang="en-US"/>
        </a:p>
      </dgm:t>
    </dgm:pt>
    <dgm:pt modelId="{E397F246-BD6B-4D40-9D77-EB87CCADDA8F}" type="sibTrans" cxnId="{0A2BFAF1-C28A-4594-81DA-BBE68DEDC69E}">
      <dgm:prSet/>
      <dgm:spPr/>
      <dgm:t>
        <a:bodyPr/>
        <a:lstStyle/>
        <a:p>
          <a:endParaRPr lang="en-US"/>
        </a:p>
      </dgm:t>
    </dgm:pt>
    <dgm:pt modelId="{7D609CA0-80AE-4065-86A9-FF77F593B9B4}">
      <dgm:prSet/>
      <dgm:spPr/>
      <dgm:t>
        <a:bodyPr/>
        <a:lstStyle/>
        <a:p>
          <a:r>
            <a:rPr lang="en-GB"/>
            <a:t>✔ </a:t>
          </a:r>
          <a:r>
            <a:rPr lang="en-GB" b="1"/>
            <a:t>Preprocess and normalize</a:t>
          </a:r>
          <a:r>
            <a:rPr lang="en-GB"/>
            <a:t> the Fashion-MNIST dataset to prepare it for model training</a:t>
          </a:r>
          <a:endParaRPr lang="en-US"/>
        </a:p>
      </dgm:t>
    </dgm:pt>
    <dgm:pt modelId="{CEF78D60-74D2-48CD-BC18-6BAAC2B7068B}" type="parTrans" cxnId="{7BBF83CC-DD68-41E0-B336-2641094ADE0D}">
      <dgm:prSet/>
      <dgm:spPr/>
      <dgm:t>
        <a:bodyPr/>
        <a:lstStyle/>
        <a:p>
          <a:endParaRPr lang="en-US"/>
        </a:p>
      </dgm:t>
    </dgm:pt>
    <dgm:pt modelId="{4530E60D-86A0-4763-A9B8-3536E0F2466C}" type="sibTrans" cxnId="{7BBF83CC-DD68-41E0-B336-2641094ADE0D}">
      <dgm:prSet/>
      <dgm:spPr/>
      <dgm:t>
        <a:bodyPr/>
        <a:lstStyle/>
        <a:p>
          <a:endParaRPr lang="en-US"/>
        </a:p>
      </dgm:t>
    </dgm:pt>
    <dgm:pt modelId="{B987E06C-D915-4030-A10F-8A03F878C8D6}">
      <dgm:prSet/>
      <dgm:spPr/>
      <dgm:t>
        <a:bodyPr/>
        <a:lstStyle/>
        <a:p>
          <a:r>
            <a:rPr lang="en-GB"/>
            <a:t>✔ </a:t>
          </a:r>
          <a:r>
            <a:rPr lang="en-GB" b="1"/>
            <a:t>Train and evaluate</a:t>
          </a:r>
          <a:r>
            <a:rPr lang="en-GB"/>
            <a:t> both models using </a:t>
          </a:r>
          <a:r>
            <a:rPr lang="en-GB" b="1"/>
            <a:t>accuracy</a:t>
          </a:r>
          <a:r>
            <a:rPr lang="en-GB"/>
            <a:t> and </a:t>
          </a:r>
          <a:r>
            <a:rPr lang="en-GB" b="1"/>
            <a:t>confusion matrix</a:t>
          </a:r>
          <a:r>
            <a:rPr lang="en-GB"/>
            <a:t> metrics</a:t>
          </a:r>
          <a:endParaRPr lang="en-US"/>
        </a:p>
      </dgm:t>
    </dgm:pt>
    <dgm:pt modelId="{2CBEAD80-C29B-4660-A912-11C536B4EC1E}" type="parTrans" cxnId="{E7649250-740B-4F32-9BC0-44C3F4CC48DB}">
      <dgm:prSet/>
      <dgm:spPr/>
      <dgm:t>
        <a:bodyPr/>
        <a:lstStyle/>
        <a:p>
          <a:endParaRPr lang="en-US"/>
        </a:p>
      </dgm:t>
    </dgm:pt>
    <dgm:pt modelId="{066BCDB5-D704-4881-8E07-E0AB8B188DFC}" type="sibTrans" cxnId="{E7649250-740B-4F32-9BC0-44C3F4CC48DB}">
      <dgm:prSet/>
      <dgm:spPr/>
      <dgm:t>
        <a:bodyPr/>
        <a:lstStyle/>
        <a:p>
          <a:endParaRPr lang="en-US"/>
        </a:p>
      </dgm:t>
    </dgm:pt>
    <dgm:pt modelId="{46B95DC3-782B-4F50-A9E4-3DA0DBFADD3B}">
      <dgm:prSet/>
      <dgm:spPr/>
      <dgm:t>
        <a:bodyPr/>
        <a:lstStyle/>
        <a:p>
          <a:r>
            <a:rPr lang="en-GB"/>
            <a:t>✔</a:t>
          </a:r>
          <a:r>
            <a:rPr lang="en-GB" b="1"/>
            <a:t>Compare performance</a:t>
          </a:r>
          <a:r>
            <a:rPr lang="en-GB"/>
            <a:t> of ANN and CNN to understand their strengths and weaknesses</a:t>
          </a:r>
          <a:endParaRPr lang="en-US"/>
        </a:p>
      </dgm:t>
    </dgm:pt>
    <dgm:pt modelId="{D1C452F9-E5F3-45CD-B2EE-3EDA9850F440}" type="parTrans" cxnId="{8ABC0057-AC45-40B4-9E39-0DB3306A6435}">
      <dgm:prSet/>
      <dgm:spPr/>
      <dgm:t>
        <a:bodyPr/>
        <a:lstStyle/>
        <a:p>
          <a:endParaRPr lang="en-US"/>
        </a:p>
      </dgm:t>
    </dgm:pt>
    <dgm:pt modelId="{07A9725F-FB5D-400E-BDC5-C85457AEBEA3}" type="sibTrans" cxnId="{8ABC0057-AC45-40B4-9E39-0DB3306A6435}">
      <dgm:prSet/>
      <dgm:spPr/>
      <dgm:t>
        <a:bodyPr/>
        <a:lstStyle/>
        <a:p>
          <a:endParaRPr lang="en-US"/>
        </a:p>
      </dgm:t>
    </dgm:pt>
    <dgm:pt modelId="{21A0811A-950A-48DE-ADAE-6C6FBBCD3D52}">
      <dgm:prSet/>
      <dgm:spPr/>
      <dgm:t>
        <a:bodyPr/>
        <a:lstStyle/>
        <a:p>
          <a:r>
            <a:rPr lang="en-GB"/>
            <a:t>✔ </a:t>
          </a:r>
          <a:r>
            <a:rPr lang="en-GB" b="1"/>
            <a:t>Analyze and discuss</a:t>
          </a:r>
          <a:r>
            <a:rPr lang="en-GB"/>
            <a:t> model behavior, limitations, and possible </a:t>
          </a:r>
          <a:r>
            <a:rPr lang="en-GB" b="1"/>
            <a:t>improvements</a:t>
          </a:r>
          <a:endParaRPr lang="en-US"/>
        </a:p>
      </dgm:t>
    </dgm:pt>
    <dgm:pt modelId="{69EF3C60-D9AD-4D21-AB6F-909AF6975D1F}" type="parTrans" cxnId="{70DE10D9-FA79-4A8A-8B79-2B641D2548C5}">
      <dgm:prSet/>
      <dgm:spPr/>
      <dgm:t>
        <a:bodyPr/>
        <a:lstStyle/>
        <a:p>
          <a:endParaRPr lang="en-US"/>
        </a:p>
      </dgm:t>
    </dgm:pt>
    <dgm:pt modelId="{0B538929-B4BB-4255-85A1-6C0077BC403D}" type="sibTrans" cxnId="{70DE10D9-FA79-4A8A-8B79-2B641D2548C5}">
      <dgm:prSet/>
      <dgm:spPr/>
      <dgm:t>
        <a:bodyPr/>
        <a:lstStyle/>
        <a:p>
          <a:endParaRPr lang="en-US"/>
        </a:p>
      </dgm:t>
    </dgm:pt>
    <dgm:pt modelId="{66BA0EE3-EDB9-4306-BD6B-7D68EA55BAF1}" type="pres">
      <dgm:prSet presAssocID="{7306BC86-3B56-410F-B69F-CA4A5312ADB0}" presName="Name0" presStyleCnt="0">
        <dgm:presLayoutVars>
          <dgm:dir/>
          <dgm:resizeHandles val="exact"/>
        </dgm:presLayoutVars>
      </dgm:prSet>
      <dgm:spPr/>
    </dgm:pt>
    <dgm:pt modelId="{4B7B3AF7-A47D-4BD9-BF77-49C8FF1BAA6F}" type="pres">
      <dgm:prSet presAssocID="{995A65BF-95EA-48DC-A1DE-C4B1A05BA240}" presName="node" presStyleLbl="node1" presStyleIdx="0" presStyleCnt="6">
        <dgm:presLayoutVars>
          <dgm:bulletEnabled val="1"/>
        </dgm:presLayoutVars>
      </dgm:prSet>
      <dgm:spPr/>
    </dgm:pt>
    <dgm:pt modelId="{8A45D54A-A538-4067-BC6F-296E10AC55A6}" type="pres">
      <dgm:prSet presAssocID="{2C8A9E4A-0438-400F-AF42-ED4D8CA1C031}" presName="sibTrans" presStyleLbl="sibTrans1D1" presStyleIdx="0" presStyleCnt="5"/>
      <dgm:spPr/>
    </dgm:pt>
    <dgm:pt modelId="{18751548-AD06-47D3-878D-D31B205ACF2B}" type="pres">
      <dgm:prSet presAssocID="{2C8A9E4A-0438-400F-AF42-ED4D8CA1C031}" presName="connectorText" presStyleLbl="sibTrans1D1" presStyleIdx="0" presStyleCnt="5"/>
      <dgm:spPr/>
    </dgm:pt>
    <dgm:pt modelId="{8A712FE9-FC90-4E7B-828A-B40C73342AA6}" type="pres">
      <dgm:prSet presAssocID="{98FE123E-65D0-434A-901C-B7BEC8633401}" presName="node" presStyleLbl="node1" presStyleIdx="1" presStyleCnt="6">
        <dgm:presLayoutVars>
          <dgm:bulletEnabled val="1"/>
        </dgm:presLayoutVars>
      </dgm:prSet>
      <dgm:spPr/>
    </dgm:pt>
    <dgm:pt modelId="{6CB15CCF-EC11-4ABE-8F56-BB021B3341BB}" type="pres">
      <dgm:prSet presAssocID="{E397F246-BD6B-4D40-9D77-EB87CCADDA8F}" presName="sibTrans" presStyleLbl="sibTrans1D1" presStyleIdx="1" presStyleCnt="5"/>
      <dgm:spPr/>
    </dgm:pt>
    <dgm:pt modelId="{2EB54E44-DE69-446D-BF21-84D33BE1E106}" type="pres">
      <dgm:prSet presAssocID="{E397F246-BD6B-4D40-9D77-EB87CCADDA8F}" presName="connectorText" presStyleLbl="sibTrans1D1" presStyleIdx="1" presStyleCnt="5"/>
      <dgm:spPr/>
    </dgm:pt>
    <dgm:pt modelId="{28C6FC46-D41F-48F1-91EC-BD5AA528AA90}" type="pres">
      <dgm:prSet presAssocID="{7D609CA0-80AE-4065-86A9-FF77F593B9B4}" presName="node" presStyleLbl="node1" presStyleIdx="2" presStyleCnt="6">
        <dgm:presLayoutVars>
          <dgm:bulletEnabled val="1"/>
        </dgm:presLayoutVars>
      </dgm:prSet>
      <dgm:spPr/>
    </dgm:pt>
    <dgm:pt modelId="{2CB85B6B-C241-4F7E-AF7A-751F8B0EF83C}" type="pres">
      <dgm:prSet presAssocID="{4530E60D-86A0-4763-A9B8-3536E0F2466C}" presName="sibTrans" presStyleLbl="sibTrans1D1" presStyleIdx="2" presStyleCnt="5"/>
      <dgm:spPr/>
    </dgm:pt>
    <dgm:pt modelId="{AE9D76CD-D6D9-4411-BDD0-38B34DCC5F98}" type="pres">
      <dgm:prSet presAssocID="{4530E60D-86A0-4763-A9B8-3536E0F2466C}" presName="connectorText" presStyleLbl="sibTrans1D1" presStyleIdx="2" presStyleCnt="5"/>
      <dgm:spPr/>
    </dgm:pt>
    <dgm:pt modelId="{0885FDA3-3933-47AF-8073-620F3A1054E8}" type="pres">
      <dgm:prSet presAssocID="{B987E06C-D915-4030-A10F-8A03F878C8D6}" presName="node" presStyleLbl="node1" presStyleIdx="3" presStyleCnt="6">
        <dgm:presLayoutVars>
          <dgm:bulletEnabled val="1"/>
        </dgm:presLayoutVars>
      </dgm:prSet>
      <dgm:spPr/>
    </dgm:pt>
    <dgm:pt modelId="{137B50D4-9053-41F0-967D-15D8AA27461C}" type="pres">
      <dgm:prSet presAssocID="{066BCDB5-D704-4881-8E07-E0AB8B188DFC}" presName="sibTrans" presStyleLbl="sibTrans1D1" presStyleIdx="3" presStyleCnt="5"/>
      <dgm:spPr/>
    </dgm:pt>
    <dgm:pt modelId="{6926AA75-133E-4954-8402-B7960D614C38}" type="pres">
      <dgm:prSet presAssocID="{066BCDB5-D704-4881-8E07-E0AB8B188DFC}" presName="connectorText" presStyleLbl="sibTrans1D1" presStyleIdx="3" presStyleCnt="5"/>
      <dgm:spPr/>
    </dgm:pt>
    <dgm:pt modelId="{F5F2146A-D65F-4FF5-80D0-1BC51E32745A}" type="pres">
      <dgm:prSet presAssocID="{46B95DC3-782B-4F50-A9E4-3DA0DBFADD3B}" presName="node" presStyleLbl="node1" presStyleIdx="4" presStyleCnt="6">
        <dgm:presLayoutVars>
          <dgm:bulletEnabled val="1"/>
        </dgm:presLayoutVars>
      </dgm:prSet>
      <dgm:spPr/>
    </dgm:pt>
    <dgm:pt modelId="{F86CCF9B-970A-4FB2-A46B-4FBFFBAB73FF}" type="pres">
      <dgm:prSet presAssocID="{07A9725F-FB5D-400E-BDC5-C85457AEBEA3}" presName="sibTrans" presStyleLbl="sibTrans1D1" presStyleIdx="4" presStyleCnt="5"/>
      <dgm:spPr/>
    </dgm:pt>
    <dgm:pt modelId="{96143671-0630-4BE4-B5A8-0FDF188D1405}" type="pres">
      <dgm:prSet presAssocID="{07A9725F-FB5D-400E-BDC5-C85457AEBEA3}" presName="connectorText" presStyleLbl="sibTrans1D1" presStyleIdx="4" presStyleCnt="5"/>
      <dgm:spPr/>
    </dgm:pt>
    <dgm:pt modelId="{24D22D54-67CA-4003-9E92-DB736D740A42}" type="pres">
      <dgm:prSet presAssocID="{21A0811A-950A-48DE-ADAE-6C6FBBCD3D52}" presName="node" presStyleLbl="node1" presStyleIdx="5" presStyleCnt="6">
        <dgm:presLayoutVars>
          <dgm:bulletEnabled val="1"/>
        </dgm:presLayoutVars>
      </dgm:prSet>
      <dgm:spPr/>
    </dgm:pt>
  </dgm:ptLst>
  <dgm:cxnLst>
    <dgm:cxn modelId="{A6476015-BE8E-42E7-BB51-84E398F617DC}" type="presOf" srcId="{21A0811A-950A-48DE-ADAE-6C6FBBCD3D52}" destId="{24D22D54-67CA-4003-9E92-DB736D740A42}" srcOrd="0" destOrd="0" presId="urn:microsoft.com/office/officeart/2016/7/layout/RepeatingBendingProcessNew"/>
    <dgm:cxn modelId="{D8F6E819-5575-4AA0-AA6D-3181D0A7191E}" type="presOf" srcId="{B987E06C-D915-4030-A10F-8A03F878C8D6}" destId="{0885FDA3-3933-47AF-8073-620F3A1054E8}" srcOrd="0" destOrd="0" presId="urn:microsoft.com/office/officeart/2016/7/layout/RepeatingBendingProcessNew"/>
    <dgm:cxn modelId="{3F644222-063B-4F26-B385-B78D128B0B3E}" type="presOf" srcId="{7D609CA0-80AE-4065-86A9-FF77F593B9B4}" destId="{28C6FC46-D41F-48F1-91EC-BD5AA528AA90}" srcOrd="0" destOrd="0" presId="urn:microsoft.com/office/officeart/2016/7/layout/RepeatingBendingProcessNew"/>
    <dgm:cxn modelId="{A86D3237-F038-48D3-88F0-2483D0F50CC4}" type="presOf" srcId="{07A9725F-FB5D-400E-BDC5-C85457AEBEA3}" destId="{F86CCF9B-970A-4FB2-A46B-4FBFFBAB73FF}" srcOrd="0" destOrd="0" presId="urn:microsoft.com/office/officeart/2016/7/layout/RepeatingBendingProcessNew"/>
    <dgm:cxn modelId="{E7649250-740B-4F32-9BC0-44C3F4CC48DB}" srcId="{7306BC86-3B56-410F-B69F-CA4A5312ADB0}" destId="{B987E06C-D915-4030-A10F-8A03F878C8D6}" srcOrd="3" destOrd="0" parTransId="{2CBEAD80-C29B-4660-A912-11C536B4EC1E}" sibTransId="{066BCDB5-D704-4881-8E07-E0AB8B188DFC}"/>
    <dgm:cxn modelId="{8ABC0057-AC45-40B4-9E39-0DB3306A6435}" srcId="{7306BC86-3B56-410F-B69F-CA4A5312ADB0}" destId="{46B95DC3-782B-4F50-A9E4-3DA0DBFADD3B}" srcOrd="4" destOrd="0" parTransId="{D1C452F9-E5F3-45CD-B2EE-3EDA9850F440}" sibTransId="{07A9725F-FB5D-400E-BDC5-C85457AEBEA3}"/>
    <dgm:cxn modelId="{A43B1559-2CF3-4443-AECD-433CF3D3FE42}" type="presOf" srcId="{4530E60D-86A0-4763-A9B8-3536E0F2466C}" destId="{AE9D76CD-D6D9-4411-BDD0-38B34DCC5F98}" srcOrd="1" destOrd="0" presId="urn:microsoft.com/office/officeart/2016/7/layout/RepeatingBendingProcessNew"/>
    <dgm:cxn modelId="{2607C47A-E3A5-478C-BEFD-A388F357DE71}" type="presOf" srcId="{98FE123E-65D0-434A-901C-B7BEC8633401}" destId="{8A712FE9-FC90-4E7B-828A-B40C73342AA6}" srcOrd="0" destOrd="0" presId="urn:microsoft.com/office/officeart/2016/7/layout/RepeatingBendingProcessNew"/>
    <dgm:cxn modelId="{AC18428B-E054-4428-A21F-CD8B138F24DD}" type="presOf" srcId="{066BCDB5-D704-4881-8E07-E0AB8B188DFC}" destId="{6926AA75-133E-4954-8402-B7960D614C38}" srcOrd="1" destOrd="0" presId="urn:microsoft.com/office/officeart/2016/7/layout/RepeatingBendingProcessNew"/>
    <dgm:cxn modelId="{6F84E49C-B57D-4D27-B2D4-17767C1B7B84}" type="presOf" srcId="{2C8A9E4A-0438-400F-AF42-ED4D8CA1C031}" destId="{8A45D54A-A538-4067-BC6F-296E10AC55A6}" srcOrd="0" destOrd="0" presId="urn:microsoft.com/office/officeart/2016/7/layout/RepeatingBendingProcessNew"/>
    <dgm:cxn modelId="{AE710FA5-DC5F-43B4-8E6F-24E6FC166F05}" srcId="{7306BC86-3B56-410F-B69F-CA4A5312ADB0}" destId="{995A65BF-95EA-48DC-A1DE-C4B1A05BA240}" srcOrd="0" destOrd="0" parTransId="{B367C26F-EE97-4BFF-972E-0F74343B1BB7}" sibTransId="{2C8A9E4A-0438-400F-AF42-ED4D8CA1C031}"/>
    <dgm:cxn modelId="{E81802B1-824A-463B-8D53-F1DBC4C47864}" type="presOf" srcId="{E397F246-BD6B-4D40-9D77-EB87CCADDA8F}" destId="{6CB15CCF-EC11-4ABE-8F56-BB021B3341BB}" srcOrd="0" destOrd="0" presId="urn:microsoft.com/office/officeart/2016/7/layout/RepeatingBendingProcessNew"/>
    <dgm:cxn modelId="{F50A14BC-5AA0-445D-9338-271BCE3708D7}" type="presOf" srcId="{07A9725F-FB5D-400E-BDC5-C85457AEBEA3}" destId="{96143671-0630-4BE4-B5A8-0FDF188D1405}" srcOrd="1" destOrd="0" presId="urn:microsoft.com/office/officeart/2016/7/layout/RepeatingBendingProcessNew"/>
    <dgm:cxn modelId="{7BBF83CC-DD68-41E0-B336-2641094ADE0D}" srcId="{7306BC86-3B56-410F-B69F-CA4A5312ADB0}" destId="{7D609CA0-80AE-4065-86A9-FF77F593B9B4}" srcOrd="2" destOrd="0" parTransId="{CEF78D60-74D2-48CD-BC18-6BAAC2B7068B}" sibTransId="{4530E60D-86A0-4763-A9B8-3536E0F2466C}"/>
    <dgm:cxn modelId="{70DE10D9-FA79-4A8A-8B79-2B641D2548C5}" srcId="{7306BC86-3B56-410F-B69F-CA4A5312ADB0}" destId="{21A0811A-950A-48DE-ADAE-6C6FBBCD3D52}" srcOrd="5" destOrd="0" parTransId="{69EF3C60-D9AD-4D21-AB6F-909AF6975D1F}" sibTransId="{0B538929-B4BB-4255-85A1-6C0077BC403D}"/>
    <dgm:cxn modelId="{7E031CDC-772A-4DA1-8A9C-48D95D6E9FCE}" type="presOf" srcId="{995A65BF-95EA-48DC-A1DE-C4B1A05BA240}" destId="{4B7B3AF7-A47D-4BD9-BF77-49C8FF1BAA6F}" srcOrd="0" destOrd="0" presId="urn:microsoft.com/office/officeart/2016/7/layout/RepeatingBendingProcessNew"/>
    <dgm:cxn modelId="{53F60CE3-F19F-4E9C-A525-D22B3F69A06F}" type="presOf" srcId="{46B95DC3-782B-4F50-A9E4-3DA0DBFADD3B}" destId="{F5F2146A-D65F-4FF5-80D0-1BC51E32745A}" srcOrd="0" destOrd="0" presId="urn:microsoft.com/office/officeart/2016/7/layout/RepeatingBendingProcessNew"/>
    <dgm:cxn modelId="{7FF44CEE-F1B5-472F-A323-E33DB24336A2}" type="presOf" srcId="{E397F246-BD6B-4D40-9D77-EB87CCADDA8F}" destId="{2EB54E44-DE69-446D-BF21-84D33BE1E106}" srcOrd="1" destOrd="0" presId="urn:microsoft.com/office/officeart/2016/7/layout/RepeatingBendingProcessNew"/>
    <dgm:cxn modelId="{0A2BFAF1-C28A-4594-81DA-BBE68DEDC69E}" srcId="{7306BC86-3B56-410F-B69F-CA4A5312ADB0}" destId="{98FE123E-65D0-434A-901C-B7BEC8633401}" srcOrd="1" destOrd="0" parTransId="{4F73DD51-3E9C-4D79-BDC1-87F285EB5140}" sibTransId="{E397F246-BD6B-4D40-9D77-EB87CCADDA8F}"/>
    <dgm:cxn modelId="{8BE9C3F4-0982-49D9-A05A-273C1080F26F}" type="presOf" srcId="{066BCDB5-D704-4881-8E07-E0AB8B188DFC}" destId="{137B50D4-9053-41F0-967D-15D8AA27461C}" srcOrd="0" destOrd="0" presId="urn:microsoft.com/office/officeart/2016/7/layout/RepeatingBendingProcessNew"/>
    <dgm:cxn modelId="{23DAFFF6-0A24-4250-9BE6-42F03DB61BA4}" type="presOf" srcId="{4530E60D-86A0-4763-A9B8-3536E0F2466C}" destId="{2CB85B6B-C241-4F7E-AF7A-751F8B0EF83C}" srcOrd="0" destOrd="0" presId="urn:microsoft.com/office/officeart/2016/7/layout/RepeatingBendingProcessNew"/>
    <dgm:cxn modelId="{93EE54FE-BAF8-4D0D-A865-47AD6C457A78}" type="presOf" srcId="{2C8A9E4A-0438-400F-AF42-ED4D8CA1C031}" destId="{18751548-AD06-47D3-878D-D31B205ACF2B}" srcOrd="1" destOrd="0" presId="urn:microsoft.com/office/officeart/2016/7/layout/RepeatingBendingProcessNew"/>
    <dgm:cxn modelId="{29239DFE-8199-4DFA-95D8-37F231FA2B09}" type="presOf" srcId="{7306BC86-3B56-410F-B69F-CA4A5312ADB0}" destId="{66BA0EE3-EDB9-4306-BD6B-7D68EA55BAF1}" srcOrd="0" destOrd="0" presId="urn:microsoft.com/office/officeart/2016/7/layout/RepeatingBendingProcessNew"/>
    <dgm:cxn modelId="{FFD00E26-367B-41BB-9317-4C5F296DE62B}" type="presParOf" srcId="{66BA0EE3-EDB9-4306-BD6B-7D68EA55BAF1}" destId="{4B7B3AF7-A47D-4BD9-BF77-49C8FF1BAA6F}" srcOrd="0" destOrd="0" presId="urn:microsoft.com/office/officeart/2016/7/layout/RepeatingBendingProcessNew"/>
    <dgm:cxn modelId="{83DD9BD9-D87D-4FE7-8DFC-B14A58E3A832}" type="presParOf" srcId="{66BA0EE3-EDB9-4306-BD6B-7D68EA55BAF1}" destId="{8A45D54A-A538-4067-BC6F-296E10AC55A6}" srcOrd="1" destOrd="0" presId="urn:microsoft.com/office/officeart/2016/7/layout/RepeatingBendingProcessNew"/>
    <dgm:cxn modelId="{AC65AB82-B233-4896-9FDD-AFA713474BE1}" type="presParOf" srcId="{8A45D54A-A538-4067-BC6F-296E10AC55A6}" destId="{18751548-AD06-47D3-878D-D31B205ACF2B}" srcOrd="0" destOrd="0" presId="urn:microsoft.com/office/officeart/2016/7/layout/RepeatingBendingProcessNew"/>
    <dgm:cxn modelId="{CEC7D4F8-E7A9-4E05-AFB6-B724D66C4824}" type="presParOf" srcId="{66BA0EE3-EDB9-4306-BD6B-7D68EA55BAF1}" destId="{8A712FE9-FC90-4E7B-828A-B40C73342AA6}" srcOrd="2" destOrd="0" presId="urn:microsoft.com/office/officeart/2016/7/layout/RepeatingBendingProcessNew"/>
    <dgm:cxn modelId="{957CA987-3CCF-4B7A-A53E-82E44E261F92}" type="presParOf" srcId="{66BA0EE3-EDB9-4306-BD6B-7D68EA55BAF1}" destId="{6CB15CCF-EC11-4ABE-8F56-BB021B3341BB}" srcOrd="3" destOrd="0" presId="urn:microsoft.com/office/officeart/2016/7/layout/RepeatingBendingProcessNew"/>
    <dgm:cxn modelId="{DD685B04-F5A6-4710-9E71-878D855856F4}" type="presParOf" srcId="{6CB15CCF-EC11-4ABE-8F56-BB021B3341BB}" destId="{2EB54E44-DE69-446D-BF21-84D33BE1E106}" srcOrd="0" destOrd="0" presId="urn:microsoft.com/office/officeart/2016/7/layout/RepeatingBendingProcessNew"/>
    <dgm:cxn modelId="{D26AD8AD-5688-47A6-883A-0099A2765DBC}" type="presParOf" srcId="{66BA0EE3-EDB9-4306-BD6B-7D68EA55BAF1}" destId="{28C6FC46-D41F-48F1-91EC-BD5AA528AA90}" srcOrd="4" destOrd="0" presId="urn:microsoft.com/office/officeart/2016/7/layout/RepeatingBendingProcessNew"/>
    <dgm:cxn modelId="{018380C7-2481-4D16-B703-850FCCCCC571}" type="presParOf" srcId="{66BA0EE3-EDB9-4306-BD6B-7D68EA55BAF1}" destId="{2CB85B6B-C241-4F7E-AF7A-751F8B0EF83C}" srcOrd="5" destOrd="0" presId="urn:microsoft.com/office/officeart/2016/7/layout/RepeatingBendingProcessNew"/>
    <dgm:cxn modelId="{89F256BE-C960-4986-917A-FE4CCCBED040}" type="presParOf" srcId="{2CB85B6B-C241-4F7E-AF7A-751F8B0EF83C}" destId="{AE9D76CD-D6D9-4411-BDD0-38B34DCC5F98}" srcOrd="0" destOrd="0" presId="urn:microsoft.com/office/officeart/2016/7/layout/RepeatingBendingProcessNew"/>
    <dgm:cxn modelId="{1D968E20-7B23-4460-B9EC-35A59E9696D7}" type="presParOf" srcId="{66BA0EE3-EDB9-4306-BD6B-7D68EA55BAF1}" destId="{0885FDA3-3933-47AF-8073-620F3A1054E8}" srcOrd="6" destOrd="0" presId="urn:microsoft.com/office/officeart/2016/7/layout/RepeatingBendingProcessNew"/>
    <dgm:cxn modelId="{0676319C-5DC5-4C5B-ADE8-CF8B01439B3B}" type="presParOf" srcId="{66BA0EE3-EDB9-4306-BD6B-7D68EA55BAF1}" destId="{137B50D4-9053-41F0-967D-15D8AA27461C}" srcOrd="7" destOrd="0" presId="urn:microsoft.com/office/officeart/2016/7/layout/RepeatingBendingProcessNew"/>
    <dgm:cxn modelId="{348B677B-5583-46C8-A019-362A1E264813}" type="presParOf" srcId="{137B50D4-9053-41F0-967D-15D8AA27461C}" destId="{6926AA75-133E-4954-8402-B7960D614C38}" srcOrd="0" destOrd="0" presId="urn:microsoft.com/office/officeart/2016/7/layout/RepeatingBendingProcessNew"/>
    <dgm:cxn modelId="{0634B63D-F5F6-4C54-81FF-3B524A5EE4C5}" type="presParOf" srcId="{66BA0EE3-EDB9-4306-BD6B-7D68EA55BAF1}" destId="{F5F2146A-D65F-4FF5-80D0-1BC51E32745A}" srcOrd="8" destOrd="0" presId="urn:microsoft.com/office/officeart/2016/7/layout/RepeatingBendingProcessNew"/>
    <dgm:cxn modelId="{F169C969-9D4D-4E2C-BD5E-7AA9BFE88812}" type="presParOf" srcId="{66BA0EE3-EDB9-4306-BD6B-7D68EA55BAF1}" destId="{F86CCF9B-970A-4FB2-A46B-4FBFFBAB73FF}" srcOrd="9" destOrd="0" presId="urn:microsoft.com/office/officeart/2016/7/layout/RepeatingBendingProcessNew"/>
    <dgm:cxn modelId="{8161228F-E22E-482E-8890-499DA06DCEE3}" type="presParOf" srcId="{F86CCF9B-970A-4FB2-A46B-4FBFFBAB73FF}" destId="{96143671-0630-4BE4-B5A8-0FDF188D1405}" srcOrd="0" destOrd="0" presId="urn:microsoft.com/office/officeart/2016/7/layout/RepeatingBendingProcessNew"/>
    <dgm:cxn modelId="{F521CB7B-5D67-4388-97B7-8CB7BDF36366}" type="presParOf" srcId="{66BA0EE3-EDB9-4306-BD6B-7D68EA55BAF1}" destId="{24D22D54-67CA-4003-9E92-DB736D740A4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5D54A-A538-4067-BC6F-296E10AC55A6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4B7B3AF7-A47D-4BD9-BF77-49C8FF1BAA6F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✔</a:t>
          </a:r>
          <a:r>
            <a:rPr lang="en-GB" sz="2100" b="1" kern="1200"/>
            <a:t>Implement</a:t>
          </a:r>
          <a:r>
            <a:rPr lang="en-GB" sz="2100" kern="1200"/>
            <a:t> Artificial Neural Network (ANN) and Convolutional Neural Network (CNN) using</a:t>
          </a:r>
          <a:endParaRPr lang="en-US" sz="2100" kern="1200"/>
        </a:p>
      </dsp:txBody>
      <dsp:txXfrm>
        <a:off x="8061" y="5979"/>
        <a:ext cx="3034531" cy="1820718"/>
      </dsp:txXfrm>
    </dsp:sp>
    <dsp:sp modelId="{6CB15CCF-EC11-4ABE-8F56-BB021B3341BB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8A712FE9-FC90-4E7B-828A-B40C73342AA6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PyTorch</a:t>
          </a:r>
          <a:endParaRPr lang="en-US" sz="2100" kern="1200"/>
        </a:p>
      </dsp:txBody>
      <dsp:txXfrm>
        <a:off x="3740534" y="5979"/>
        <a:ext cx="3034531" cy="1820718"/>
      </dsp:txXfrm>
    </dsp:sp>
    <dsp:sp modelId="{2CB85B6B-C241-4F7E-AF7A-751F8B0EF83C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28C6FC46-D41F-48F1-91EC-BD5AA528AA90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✔ </a:t>
          </a:r>
          <a:r>
            <a:rPr lang="en-GB" sz="2100" b="1" kern="1200"/>
            <a:t>Preprocess and normalize</a:t>
          </a:r>
          <a:r>
            <a:rPr lang="en-GB" sz="2100" kern="1200"/>
            <a:t> the Fashion-MNIST dataset to prepare it for model training</a:t>
          </a:r>
          <a:endParaRPr lang="en-US" sz="2100" kern="1200"/>
        </a:p>
      </dsp:txBody>
      <dsp:txXfrm>
        <a:off x="7473007" y="5979"/>
        <a:ext cx="3034531" cy="1820718"/>
      </dsp:txXfrm>
    </dsp:sp>
    <dsp:sp modelId="{137B50D4-9053-41F0-967D-15D8AA27461C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0885FDA3-3933-47AF-8073-620F3A1054E8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✔ </a:t>
          </a:r>
          <a:r>
            <a:rPr lang="en-GB" sz="2100" b="1" kern="1200"/>
            <a:t>Train and evaluate</a:t>
          </a:r>
          <a:r>
            <a:rPr lang="en-GB" sz="2100" kern="1200"/>
            <a:t> both models using </a:t>
          </a:r>
          <a:r>
            <a:rPr lang="en-GB" sz="2100" b="1" kern="1200"/>
            <a:t>accuracy</a:t>
          </a:r>
          <a:r>
            <a:rPr lang="en-GB" sz="2100" kern="1200"/>
            <a:t> and </a:t>
          </a:r>
          <a:r>
            <a:rPr lang="en-GB" sz="2100" b="1" kern="1200"/>
            <a:t>confusion matrix</a:t>
          </a:r>
          <a:r>
            <a:rPr lang="en-GB" sz="2100" kern="1200"/>
            <a:t> metrics</a:t>
          </a:r>
          <a:endParaRPr lang="en-US" sz="2100" kern="1200"/>
        </a:p>
      </dsp:txBody>
      <dsp:txXfrm>
        <a:off x="8061" y="2524640"/>
        <a:ext cx="3034531" cy="1820718"/>
      </dsp:txXfrm>
    </dsp:sp>
    <dsp:sp modelId="{F86CCF9B-970A-4FB2-A46B-4FBFFBAB73FF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F5F2146A-D65F-4FF5-80D0-1BC51E32745A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✔</a:t>
          </a:r>
          <a:r>
            <a:rPr lang="en-GB" sz="2100" b="1" kern="1200"/>
            <a:t>Compare performance</a:t>
          </a:r>
          <a:r>
            <a:rPr lang="en-GB" sz="2100" kern="1200"/>
            <a:t> of ANN and CNN to understand their strengths and weaknesses</a:t>
          </a:r>
          <a:endParaRPr lang="en-US" sz="2100" kern="1200"/>
        </a:p>
      </dsp:txBody>
      <dsp:txXfrm>
        <a:off x="3740534" y="2524640"/>
        <a:ext cx="3034531" cy="1820718"/>
      </dsp:txXfrm>
    </dsp:sp>
    <dsp:sp modelId="{24D22D54-67CA-4003-9E92-DB736D740A42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✔ </a:t>
          </a:r>
          <a:r>
            <a:rPr lang="en-GB" sz="2100" b="1" kern="1200"/>
            <a:t>Analyze and discuss</a:t>
          </a:r>
          <a:r>
            <a:rPr lang="en-GB" sz="2100" kern="1200"/>
            <a:t> model behavior, limitations, and possible </a:t>
          </a:r>
          <a:r>
            <a:rPr lang="en-GB" sz="2100" b="1" kern="1200"/>
            <a:t>improvements</a:t>
          </a:r>
          <a:endParaRPr lang="en-US" sz="2100" kern="1200"/>
        </a:p>
      </dsp:txBody>
      <dsp:txXfrm>
        <a:off x="7473007" y="2524640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Fashion-MNIST Image Classification using ANN and CNN Architectures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/>
              <a:t>Coursework Assessment – Neural Systems Module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Adulcinio Rosa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P2744127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Tutor:  Amudhavel Jayavel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43F81-B342-4463-5140-F010BADB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GB" sz="3100" dirty="0">
                <a:ea typeface="+mj-lt"/>
                <a:cs typeface="+mj-lt"/>
              </a:rPr>
              <a:t>                                  </a:t>
            </a:r>
            <a:r>
              <a:rPr lang="en-GB" sz="3100" b="1" dirty="0">
                <a:latin typeface="Arial"/>
                <a:ea typeface="+mj-lt"/>
                <a:cs typeface="+mj-lt"/>
              </a:rPr>
              <a:t>Introduction</a:t>
            </a:r>
            <a:endParaRPr lang="en-US" sz="3100" b="1" dirty="0">
              <a:latin typeface="Arial"/>
            </a:endParaRPr>
          </a:p>
        </p:txBody>
      </p:sp>
      <p:sp>
        <p:nvSpPr>
          <p:cNvPr id="8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collage of different clothing&#10;&#10;AI-generated content may be incorrect.">
            <a:extLst>
              <a:ext uri="{FF2B5EF4-FFF2-40B4-BE49-F238E27FC236}">
                <a16:creationId xmlns:a16="http://schemas.microsoft.com/office/drawing/2014/main" id="{33D6C758-8F86-9AA8-8C01-D14F9777B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894189"/>
            <a:ext cx="4777381" cy="489987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74544-F488-731B-70EA-0AA54B4E7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1300" b="1" dirty="0">
                <a:ea typeface="+mn-lt"/>
                <a:cs typeface="+mn-lt"/>
              </a:rPr>
              <a:t>Dataset:</a:t>
            </a:r>
            <a:r>
              <a:rPr lang="en-GB" sz="1300" dirty="0">
                <a:ea typeface="+mn-lt"/>
                <a:cs typeface="+mn-lt"/>
              </a:rPr>
              <a:t> Fashion-MNIST → 70,000 grayscale images (28×28 pixels)</a:t>
            </a:r>
            <a:endParaRPr lang="en-GB" sz="1300" dirty="0"/>
          </a:p>
          <a:p>
            <a:r>
              <a:rPr lang="en-GB" sz="1300" b="1" dirty="0">
                <a:ea typeface="+mn-lt"/>
                <a:cs typeface="+mn-lt"/>
              </a:rPr>
              <a:t>Classes:</a:t>
            </a:r>
            <a:r>
              <a:rPr lang="en-GB" sz="1300" dirty="0">
                <a:ea typeface="+mn-lt"/>
                <a:cs typeface="+mn-lt"/>
              </a:rPr>
              <a:t> 10 clothing categories — e.g., shirts, shoes, trousers, bags, jackets</a:t>
            </a:r>
          </a:p>
          <a:p>
            <a:endParaRPr lang="en-GB" sz="1300">
              <a:ea typeface="+mn-lt"/>
              <a:cs typeface="+mn-lt"/>
            </a:endParaRPr>
          </a:p>
          <a:p>
            <a:endParaRPr lang="en-GB" sz="13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300" b="1" dirty="0">
                <a:ea typeface="+mn-lt"/>
                <a:cs typeface="+mn-lt"/>
              </a:rPr>
              <a:t>.Goal:</a:t>
            </a:r>
            <a:r>
              <a:rPr lang="en-GB" sz="1300" dirty="0">
                <a:ea typeface="+mn-lt"/>
                <a:cs typeface="+mn-lt"/>
              </a:rPr>
              <a:t> Compare performance </a:t>
            </a:r>
            <a:endParaRPr lang="en-GB" sz="1300" dirty="0"/>
          </a:p>
          <a:p>
            <a:pPr marL="0" indent="0">
              <a:buNone/>
            </a:pPr>
            <a:r>
              <a:rPr lang="en-GB" sz="1300" dirty="0">
                <a:ea typeface="+mn-lt"/>
                <a:cs typeface="+mn-lt"/>
              </a:rPr>
              <a:t>Artificial Neural Network (ANN</a:t>
            </a:r>
            <a:endParaRPr lang="en-GB" sz="1300" dirty="0"/>
          </a:p>
          <a:p>
            <a:pPr marL="0" indent="0">
              <a:buNone/>
            </a:pPr>
            <a:r>
              <a:rPr lang="en-GB" sz="1300" dirty="0">
                <a:ea typeface="+mn-lt"/>
                <a:cs typeface="+mn-lt"/>
              </a:rPr>
              <a:t>                            VS</a:t>
            </a:r>
          </a:p>
          <a:p>
            <a:pPr marL="0" indent="0">
              <a:buNone/>
            </a:pPr>
            <a:r>
              <a:rPr lang="en-GB" sz="1300" dirty="0">
                <a:ea typeface="+mn-lt"/>
                <a:cs typeface="+mn-lt"/>
              </a:rPr>
              <a:t>Convolutional Neural Network (CNN)</a:t>
            </a:r>
            <a:endParaRPr lang="en-GB" sz="1300" dirty="0"/>
          </a:p>
          <a:p>
            <a:pPr marL="0" indent="0">
              <a:buNone/>
            </a:pPr>
            <a:endParaRPr lang="en-GB" sz="13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1300" b="1" dirty="0">
                <a:ea typeface="+mn-lt"/>
                <a:cs typeface="+mn-lt"/>
              </a:rPr>
              <a:t>Focus:</a:t>
            </a:r>
            <a:r>
              <a:rPr lang="en-GB" sz="1300" dirty="0">
                <a:ea typeface="+mn-lt"/>
                <a:cs typeface="+mn-lt"/>
              </a:rPr>
              <a:t> Evaluate CNN’s ability to capture spatial structure in images</a:t>
            </a:r>
            <a:endParaRPr lang="en-GB" sz="1300" dirty="0"/>
          </a:p>
          <a:p>
            <a:pPr>
              <a:buFont typeface="Arial"/>
              <a:buChar char="•"/>
            </a:pPr>
            <a:endParaRPr lang="en-GB" sz="13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1300" b="1" dirty="0">
                <a:ea typeface="+mn-lt"/>
                <a:cs typeface="+mn-lt"/>
              </a:rPr>
              <a:t>Evaluation Metrics:</a:t>
            </a:r>
            <a:r>
              <a:rPr lang="en-GB" sz="1300" dirty="0">
                <a:ea typeface="+mn-lt"/>
                <a:cs typeface="+mn-lt"/>
              </a:rPr>
              <a:t> Accuracy, confusion matrix, classification errors</a:t>
            </a:r>
            <a:endParaRPr lang="en-GB" sz="1300" dirty="0"/>
          </a:p>
          <a:p>
            <a:pPr marL="0" indent="0">
              <a:buNone/>
            </a:pPr>
            <a:endParaRPr lang="en-GB" sz="1300"/>
          </a:p>
          <a:p>
            <a:pPr marL="0" indent="0">
              <a:buNone/>
            </a:pPr>
            <a:endParaRPr lang="en-GB" sz="1300">
              <a:ea typeface="+mn-lt"/>
              <a:cs typeface="+mn-lt"/>
            </a:endParaRPr>
          </a:p>
          <a:p>
            <a:pPr marL="0" indent="0">
              <a:buNone/>
            </a:pPr>
            <a:endParaRPr lang="en-GB" sz="1300">
              <a:ea typeface="+mn-lt"/>
              <a:cs typeface="+mn-lt"/>
            </a:endParaRPr>
          </a:p>
          <a:p>
            <a:endParaRPr lang="en-GB" sz="1300" b="1">
              <a:ea typeface="+mn-lt"/>
              <a:cs typeface="+mn-lt"/>
            </a:endParaRPr>
          </a:p>
          <a:p>
            <a:endParaRPr lang="en-GB" sz="1300" b="1"/>
          </a:p>
          <a:p>
            <a:endParaRPr lang="en-GB" sz="1300" b="1"/>
          </a:p>
          <a:p>
            <a:endParaRPr lang="en-GB" sz="1300"/>
          </a:p>
          <a:p>
            <a:endParaRPr lang="en-GB" sz="1300" b="1"/>
          </a:p>
          <a:p>
            <a:endParaRPr lang="en-GB" sz="1300" b="1"/>
          </a:p>
          <a:p>
            <a:endParaRPr lang="en-GB" sz="1300" b="1"/>
          </a:p>
          <a:p>
            <a:endParaRPr lang="en-GB" sz="1300"/>
          </a:p>
        </p:txBody>
      </p:sp>
    </p:spTree>
    <p:extLst>
      <p:ext uri="{BB962C8B-B14F-4D97-AF65-F5344CB8AC3E}">
        <p14:creationId xmlns:p14="http://schemas.microsoft.com/office/powerpoint/2010/main" val="213386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FAD1E-E13B-D93A-4738-83FC1302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ea typeface="+mj-lt"/>
                <a:cs typeface="+mj-lt"/>
              </a:rPr>
              <a:t>Objectives</a:t>
            </a:r>
            <a:endParaRPr lang="en-US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C849F8-582A-92A6-4272-FFE0F70B65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013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73D06-0389-5EEB-4F81-4605038DB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4200" b="1">
                <a:ea typeface="+mj-lt"/>
                <a:cs typeface="+mj-lt"/>
              </a:rPr>
              <a:t>Dataset &amp; Preprocessing</a:t>
            </a:r>
            <a:endParaRPr lang="en-US" sz="4200" b="1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9BF1A-CE5F-5EFB-D2EE-5A2A4FA5C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GB" sz="1200" b="1">
              <a:ea typeface="+mn-lt"/>
              <a:cs typeface="+mn-lt"/>
            </a:endParaRPr>
          </a:p>
          <a:p>
            <a:endParaRPr lang="en-GB" sz="1200" b="1">
              <a:ea typeface="+mn-lt"/>
              <a:cs typeface="+mn-lt"/>
            </a:endParaRPr>
          </a:p>
          <a:p>
            <a:r>
              <a:rPr lang="en-GB" sz="1200" b="1">
                <a:ea typeface="+mn-lt"/>
                <a:cs typeface="+mn-lt"/>
              </a:rPr>
              <a:t>Dataset:</a:t>
            </a:r>
            <a:r>
              <a:rPr lang="en-GB" sz="1200">
                <a:ea typeface="+mn-lt"/>
                <a:cs typeface="+mn-lt"/>
              </a:rPr>
              <a:t> Fashion-MNIST → 60,000 train / 10,000 test images</a:t>
            </a:r>
            <a:endParaRPr lang="en-GB" sz="1200"/>
          </a:p>
          <a:p>
            <a:endParaRPr lang="en-GB" sz="1200">
              <a:ea typeface="+mn-lt"/>
              <a:cs typeface="+mn-lt"/>
            </a:endParaRPr>
          </a:p>
          <a:p>
            <a:r>
              <a:rPr lang="en-GB" sz="1200" b="1">
                <a:ea typeface="+mn-lt"/>
                <a:cs typeface="+mn-lt"/>
              </a:rPr>
              <a:t>Normalization:</a:t>
            </a:r>
            <a:r>
              <a:rPr lang="en-GB" sz="1200">
                <a:ea typeface="+mn-lt"/>
                <a:cs typeface="+mn-lt"/>
              </a:rPr>
              <a:t> Pixel values scaled to </a:t>
            </a:r>
            <a:r>
              <a:rPr lang="en-GB" sz="1200" b="1">
                <a:ea typeface="+mn-lt"/>
                <a:cs typeface="+mn-lt"/>
              </a:rPr>
              <a:t>(−1 to 1)    </a:t>
            </a:r>
            <a:endParaRPr lang="en-GB" sz="1200"/>
          </a:p>
          <a:p>
            <a:endParaRPr lang="en-GB" sz="1200" b="1">
              <a:ea typeface="+mn-lt"/>
              <a:cs typeface="+mn-lt"/>
            </a:endParaRPr>
          </a:p>
          <a:p>
            <a:r>
              <a:rPr lang="en-GB" sz="1200" b="1">
                <a:ea typeface="+mn-lt"/>
                <a:cs typeface="+mn-lt"/>
              </a:rPr>
              <a:t>Split:</a:t>
            </a:r>
            <a:r>
              <a:rPr lang="en-GB" sz="1200">
                <a:ea typeface="+mn-lt"/>
                <a:cs typeface="+mn-lt"/>
              </a:rPr>
              <a:t> Training : Validation = </a:t>
            </a:r>
            <a:r>
              <a:rPr lang="en-GB" sz="1200" b="1">
                <a:ea typeface="+mn-lt"/>
                <a:cs typeface="+mn-lt"/>
              </a:rPr>
              <a:t>80 : 20</a:t>
            </a:r>
            <a:endParaRPr lang="en-GB" sz="1200"/>
          </a:p>
          <a:p>
            <a:endParaRPr lang="en-GB" sz="1200" b="1">
              <a:ea typeface="+mn-lt"/>
              <a:cs typeface="+mn-lt"/>
            </a:endParaRPr>
          </a:p>
          <a:p>
            <a:r>
              <a:rPr lang="en-GB" sz="1200" b="1">
                <a:ea typeface="+mn-lt"/>
                <a:cs typeface="+mn-lt"/>
              </a:rPr>
              <a:t>Augmentation:</a:t>
            </a:r>
            <a:r>
              <a:rPr lang="en-GB" sz="1200">
                <a:ea typeface="+mn-lt"/>
                <a:cs typeface="+mn-lt"/>
              </a:rPr>
              <a:t> Random </a:t>
            </a:r>
            <a:r>
              <a:rPr lang="en-GB" sz="1200" b="1">
                <a:ea typeface="+mn-lt"/>
                <a:cs typeface="+mn-lt"/>
              </a:rPr>
              <a:t>rotation</a:t>
            </a:r>
            <a:r>
              <a:rPr lang="en-GB" sz="1200">
                <a:ea typeface="+mn-lt"/>
                <a:cs typeface="+mn-lt"/>
              </a:rPr>
              <a:t> and </a:t>
            </a:r>
            <a:r>
              <a:rPr lang="en-GB" sz="1200" b="1">
                <a:ea typeface="+mn-lt"/>
                <a:cs typeface="+mn-lt"/>
              </a:rPr>
              <a:t>horizontal flip</a:t>
            </a:r>
            <a:r>
              <a:rPr lang="en-GB" sz="1200">
                <a:ea typeface="+mn-lt"/>
                <a:cs typeface="+mn-lt"/>
              </a:rPr>
              <a:t> to increase data variety</a:t>
            </a:r>
            <a:endParaRPr lang="en-GB" sz="1200"/>
          </a:p>
          <a:p>
            <a:endParaRPr lang="en-GB" sz="12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EFB0A9-FC27-D76C-217C-3DAE58948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87328"/>
            <a:ext cx="6903720" cy="388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8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FCCF9-8352-9899-20EE-8C542B51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1">
                <a:solidFill>
                  <a:srgbClr val="FFFFFF"/>
                </a:solidFill>
                <a:ea typeface="+mj-lt"/>
                <a:cs typeface="+mj-lt"/>
              </a:rPr>
              <a:t>Model Architectures</a:t>
            </a:r>
            <a:endParaRPr lang="en-US" sz="4000" b="1">
              <a:solidFill>
                <a:srgbClr val="FFFFFF"/>
              </a:solidFill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E3245-B82A-0397-1CA9-16647F317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GB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2000" b="1" dirty="0">
                <a:ea typeface="+mn-lt"/>
                <a:cs typeface="+mn-lt"/>
              </a:rPr>
              <a:t>                    ANN</a:t>
            </a:r>
          </a:p>
          <a:p>
            <a:r>
              <a:rPr lang="en-GB" sz="2000" dirty="0">
                <a:ea typeface="+mn-lt"/>
                <a:cs typeface="+mn-lt"/>
              </a:rPr>
              <a:t>“Flatten (28×28 → 784)”</a:t>
            </a:r>
            <a:endParaRPr lang="en-GB" sz="2000"/>
          </a:p>
          <a:p>
            <a:r>
              <a:rPr lang="en-GB" sz="2000" dirty="0">
                <a:ea typeface="+mn-lt"/>
                <a:cs typeface="+mn-lt"/>
              </a:rPr>
              <a:t>“Hidden Layer 1: 128 neurons (</a:t>
            </a:r>
            <a:r>
              <a:rPr lang="en-GB" sz="2000">
                <a:ea typeface="+mn-lt"/>
                <a:cs typeface="+mn-lt"/>
              </a:rPr>
              <a:t>ReLU</a:t>
            </a:r>
            <a:r>
              <a:rPr lang="en-GB" sz="2000" dirty="0">
                <a:ea typeface="+mn-lt"/>
                <a:cs typeface="+mn-lt"/>
              </a:rPr>
              <a:t>)”                                 </a:t>
            </a:r>
            <a:endParaRPr lang="en-GB" sz="2000" dirty="0"/>
          </a:p>
          <a:p>
            <a:r>
              <a:rPr lang="en-GB" sz="2000" dirty="0">
                <a:ea typeface="+mn-lt"/>
                <a:cs typeface="+mn-lt"/>
              </a:rPr>
              <a:t>“Hidden Layer 2: 64 neurons (</a:t>
            </a:r>
            <a:r>
              <a:rPr lang="en-GB" sz="2000">
                <a:ea typeface="+mn-lt"/>
                <a:cs typeface="+mn-lt"/>
              </a:rPr>
              <a:t>ReLU</a:t>
            </a:r>
            <a:r>
              <a:rPr lang="en-GB" sz="2000" dirty="0">
                <a:ea typeface="+mn-lt"/>
                <a:cs typeface="+mn-lt"/>
              </a:rPr>
              <a:t>)”</a:t>
            </a:r>
            <a:endParaRPr lang="en-GB" sz="2000" dirty="0"/>
          </a:p>
          <a:p>
            <a:r>
              <a:rPr lang="en-GB" sz="2000" dirty="0">
                <a:ea typeface="+mn-lt"/>
                <a:cs typeface="+mn-lt"/>
              </a:rPr>
              <a:t>“Output Layer: 10 classes (</a:t>
            </a:r>
            <a:r>
              <a:rPr lang="en-GB" sz="2000">
                <a:ea typeface="+mn-lt"/>
                <a:cs typeface="+mn-lt"/>
              </a:rPr>
              <a:t>Softmax</a:t>
            </a:r>
            <a:r>
              <a:rPr lang="en-GB" sz="2000" dirty="0">
                <a:ea typeface="+mn-lt"/>
                <a:cs typeface="+mn-lt"/>
              </a:rPr>
              <a:t>)”</a:t>
            </a:r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                       CNN</a:t>
            </a:r>
          </a:p>
          <a:p>
            <a:pPr marL="0" indent="0">
              <a:buNone/>
            </a:pPr>
            <a:r>
              <a:rPr lang="en-GB" sz="2000">
                <a:ea typeface="+mn-lt"/>
                <a:cs typeface="+mn-lt"/>
              </a:rPr>
              <a:t>.</a:t>
            </a:r>
            <a:r>
              <a:rPr lang="en-GB" sz="2000" dirty="0">
                <a:ea typeface="+mn-lt"/>
                <a:cs typeface="+mn-lt"/>
              </a:rPr>
              <a:t>Input (28×28) → Conv2D (1→32, 3×3, </a:t>
            </a:r>
            <a:r>
              <a:rPr lang="en-GB" sz="2000">
                <a:ea typeface="+mn-lt"/>
                <a:cs typeface="+mn-lt"/>
              </a:rPr>
              <a:t>ReLU</a:t>
            </a:r>
            <a:r>
              <a:rPr lang="en-GB" sz="2000" dirty="0">
                <a:ea typeface="+mn-lt"/>
                <a:cs typeface="+mn-lt"/>
              </a:rPr>
              <a:t>) → </a:t>
            </a:r>
            <a:r>
              <a:rPr lang="en-GB" sz="2000">
                <a:ea typeface="+mn-lt"/>
                <a:cs typeface="+mn-lt"/>
              </a:rPr>
              <a:t>MaxPool</a:t>
            </a:r>
            <a:r>
              <a:rPr lang="en-GB" sz="2000" dirty="0">
                <a:ea typeface="+mn-lt"/>
                <a:cs typeface="+mn-lt"/>
              </a:rPr>
              <a:t> (2×2) →</a:t>
            </a:r>
            <a:br>
              <a:rPr lang="en-GB" sz="2000" dirty="0">
                <a:ea typeface="+mn-lt"/>
                <a:cs typeface="+mn-lt"/>
              </a:rPr>
            </a:b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>
                <a:ea typeface="+mn-lt"/>
                <a:cs typeface="+mn-lt"/>
              </a:rPr>
              <a:t>.</a:t>
            </a:r>
            <a:r>
              <a:rPr lang="en-GB" sz="2000" dirty="0">
                <a:ea typeface="+mn-lt"/>
                <a:cs typeface="+mn-lt"/>
              </a:rPr>
              <a:t>Conv2D (32→64, 3×3, </a:t>
            </a:r>
            <a:r>
              <a:rPr lang="en-GB" sz="2000">
                <a:ea typeface="+mn-lt"/>
                <a:cs typeface="+mn-lt"/>
              </a:rPr>
              <a:t>ReLU</a:t>
            </a:r>
            <a:r>
              <a:rPr lang="en-GB" sz="2000" dirty="0">
                <a:ea typeface="+mn-lt"/>
                <a:cs typeface="+mn-lt"/>
              </a:rPr>
              <a:t>) → </a:t>
            </a:r>
            <a:r>
              <a:rPr lang="en-GB" sz="2000">
                <a:ea typeface="+mn-lt"/>
                <a:cs typeface="+mn-lt"/>
              </a:rPr>
              <a:t>MaxPool</a:t>
            </a:r>
            <a:r>
              <a:rPr lang="en-GB" sz="2000" dirty="0">
                <a:ea typeface="+mn-lt"/>
                <a:cs typeface="+mn-lt"/>
              </a:rPr>
              <a:t> (2×2) → Flatten (7×7×64) →</a:t>
            </a:r>
            <a:br>
              <a:rPr lang="en-GB" sz="2000" dirty="0">
                <a:ea typeface="+mn-lt"/>
                <a:cs typeface="+mn-lt"/>
              </a:rPr>
            </a:br>
            <a:r>
              <a:rPr lang="en-GB" sz="2000">
                <a:ea typeface="+mn-lt"/>
                <a:cs typeface="+mn-lt"/>
              </a:rPr>
              <a:t>.</a:t>
            </a:r>
            <a:r>
              <a:rPr lang="en-GB" sz="2000" dirty="0">
                <a:ea typeface="+mn-lt"/>
                <a:cs typeface="+mn-lt"/>
              </a:rPr>
              <a:t> Dense (128, </a:t>
            </a:r>
            <a:r>
              <a:rPr lang="en-GB" sz="2000">
                <a:ea typeface="+mn-lt"/>
                <a:cs typeface="+mn-lt"/>
              </a:rPr>
              <a:t>ReLU</a:t>
            </a:r>
            <a:r>
              <a:rPr lang="en-GB" sz="2000" dirty="0">
                <a:ea typeface="+mn-lt"/>
                <a:cs typeface="+mn-lt"/>
              </a:rPr>
              <a:t>) → Dropout (0.5) → Output (10 classes)</a:t>
            </a:r>
            <a:endParaRPr lang="en-GB" sz="2000"/>
          </a:p>
          <a:p>
            <a:endParaRPr lang="en-GB" sz="2000" dirty="0"/>
          </a:p>
          <a:p>
            <a:endParaRPr lang="en-GB" sz="2000" dirty="0"/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11855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E5C24-CF4E-7A4F-61B4-4F3F9D847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800" b="1">
                <a:ea typeface="+mj-lt"/>
                <a:cs typeface="+mj-lt"/>
              </a:rPr>
              <a:t> Training Setup (PyTorch)</a:t>
            </a:r>
            <a:endParaRPr lang="en-US" sz="4800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1CDA0-E5D5-3286-8992-7CC3FFF03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GB" sz="2000"/>
          </a:p>
          <a:p>
            <a:r>
              <a:rPr lang="en-GB" sz="2000">
                <a:ea typeface="+mn-lt"/>
                <a:cs typeface="+mn-lt"/>
              </a:rPr>
              <a:t>Optimizer: Adam (lr = 1e-3) </a:t>
            </a:r>
            <a:endParaRPr lang="en-GB" sz="2000"/>
          </a:p>
          <a:p>
            <a:endParaRPr lang="en-GB" sz="2000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Loss: CrossEntropyLoss</a:t>
            </a:r>
            <a:endParaRPr lang="en-GB" sz="2000"/>
          </a:p>
          <a:p>
            <a:endParaRPr lang="en-GB" sz="2000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Batch size = 64, Epochs = 10</a:t>
            </a:r>
            <a:endParaRPr lang="en-GB" sz="2000"/>
          </a:p>
          <a:p>
            <a:pPr marL="0" indent="0">
              <a:buNone/>
            </a:pPr>
            <a:endParaRPr lang="en-GB" sz="2000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Dropout and scheduler applied</a:t>
            </a:r>
            <a:endParaRPr lang="en-GB" sz="2000"/>
          </a:p>
          <a:p>
            <a:endParaRPr lang="en-GB" sz="2000"/>
          </a:p>
          <a:p>
            <a:endParaRPr lang="en-GB" sz="20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6EDCFD-DC6F-C105-24F1-CE745F390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1"/>
            <a:ext cx="5150277" cy="289703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8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ECA36-55F9-151C-9649-1250CE1B3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2800" b="1">
                <a:ea typeface="+mj-lt"/>
                <a:cs typeface="+mj-lt"/>
              </a:rPr>
              <a:t>                                        Results</a:t>
            </a:r>
            <a:endParaRPr lang="en-US" sz="2800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A6079-AEB3-ADD2-4FDA-CA4520F98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GB" sz="1800"/>
          </a:p>
          <a:p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b="1" dirty="0">
                <a:ea typeface="+mn-lt"/>
                <a:cs typeface="+mn-lt"/>
              </a:rPr>
              <a:t>loss &amp; accuracy curves</a:t>
            </a:r>
            <a:r>
              <a:rPr lang="en-GB" sz="1800" dirty="0">
                <a:ea typeface="+mn-lt"/>
                <a:cs typeface="+mn-lt"/>
              </a:rPr>
              <a:t> (two lines: train vs validation).</a:t>
            </a:r>
            <a:endParaRPr lang="en-GB" sz="1800" dirty="0"/>
          </a:p>
          <a:p>
            <a:r>
              <a:rPr lang="en-GB" sz="1800" dirty="0">
                <a:ea typeface="+mn-lt"/>
                <a:cs typeface="+mn-lt"/>
              </a:rPr>
              <a:t> The corresponding , a </a:t>
            </a:r>
            <a:r>
              <a:rPr lang="en-GB" sz="1800" b="1" dirty="0">
                <a:ea typeface="+mn-lt"/>
                <a:cs typeface="+mn-lt"/>
              </a:rPr>
              <a:t>table</a:t>
            </a:r>
            <a:r>
              <a:rPr lang="en-GB" sz="1800" dirty="0">
                <a:ea typeface="+mn-lt"/>
                <a:cs typeface="+mn-lt"/>
              </a:rPr>
              <a:t>:</a:t>
            </a:r>
            <a:endParaRPr lang="en-GB" sz="1800" dirty="0"/>
          </a:p>
          <a:p>
            <a:endParaRPr lang="en-GB" sz="1800"/>
          </a:p>
          <a:p>
            <a:endParaRPr lang="en-GB" sz="1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5B5A28-6E16-0CA1-03DA-3B17221EC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729684"/>
            <a:ext cx="5628018" cy="31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01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569D-E4FF-C766-054A-6CD597C9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911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ea typeface="+mj-lt"/>
                <a:cs typeface="+mj-lt"/>
              </a:rPr>
              <a:t>Confusion Matrices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769AB-4938-22F0-1C7C-14E1A5FFD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35" y="1726234"/>
            <a:ext cx="11167165" cy="445072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GB" sz="2000" dirty="0"/>
          </a:p>
          <a:p>
            <a:endParaRPr lang="en-GB"/>
          </a:p>
          <a:p>
            <a:endParaRPr lang="en-GB" sz="2000" dirty="0"/>
          </a:p>
          <a:p>
            <a:endParaRPr lang="en-GB" sz="2000" dirty="0"/>
          </a:p>
        </p:txBody>
      </p:sp>
      <p:pic>
        <p:nvPicPr>
          <p:cNvPr id="4" name="Picture 3" descr="A comparison of clothing labels&#10;&#10;AI-generated content may be incorrect.">
            <a:extLst>
              <a:ext uri="{FF2B5EF4-FFF2-40B4-BE49-F238E27FC236}">
                <a16:creationId xmlns:a16="http://schemas.microsoft.com/office/drawing/2014/main" id="{B485AA08-48BC-D423-0936-14B9F127E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70" y="1603375"/>
            <a:ext cx="10891355" cy="415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54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4161-919F-36F1-51FA-E6E68158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6259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ea typeface="+mj-lt"/>
                <a:cs typeface="+mj-lt"/>
              </a:rPr>
              <a:t>Analysis &amp; Discussion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EEDF2-C2A7-2EA3-16DD-2DDEB6DFF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331" y="1085712"/>
            <a:ext cx="10736469" cy="562133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pPr marL="0" indent="0">
              <a:buNone/>
            </a:pPr>
            <a:r>
              <a:rPr lang="en-GB" sz="3200" b="1" dirty="0">
                <a:ea typeface="+mn-lt"/>
                <a:cs typeface="+mn-lt"/>
              </a:rPr>
              <a:t>.</a:t>
            </a:r>
            <a:r>
              <a:rPr lang="en-GB" sz="2000" b="1" dirty="0">
                <a:ea typeface="+mn-lt"/>
                <a:cs typeface="+mn-lt"/>
              </a:rPr>
              <a:t>Performance:</a:t>
            </a:r>
            <a:r>
              <a:rPr lang="en-GB" sz="2000" dirty="0">
                <a:ea typeface="+mn-lt"/>
                <a:cs typeface="+mn-lt"/>
              </a:rPr>
              <a:t> CNN &gt; ANN due to spatial feature learning.</a:t>
            </a:r>
            <a:endParaRPr lang="en-GB" sz="2000" dirty="0"/>
          </a:p>
          <a:p>
            <a:endParaRPr lang="en-GB" sz="2000" dirty="0">
              <a:ea typeface="+mn-lt"/>
              <a:cs typeface="+mn-lt"/>
            </a:endParaRPr>
          </a:p>
          <a:p>
            <a:r>
              <a:rPr lang="en-GB" sz="2000" b="1" dirty="0">
                <a:ea typeface="+mn-lt"/>
                <a:cs typeface="+mn-lt"/>
              </a:rPr>
              <a:t>Errors:</a:t>
            </a:r>
            <a:r>
              <a:rPr lang="en-GB" sz="2000" dirty="0">
                <a:ea typeface="+mn-lt"/>
                <a:cs typeface="+mn-lt"/>
              </a:rPr>
              <a:t> Shirt ↔ Coat, Pullover ↔ T-shirt/top.</a:t>
            </a:r>
            <a:endParaRPr lang="en-GB" sz="2000" dirty="0"/>
          </a:p>
          <a:p>
            <a:endParaRPr lang="en-GB" sz="2000" dirty="0">
              <a:ea typeface="+mn-lt"/>
              <a:cs typeface="+mn-lt"/>
            </a:endParaRPr>
          </a:p>
          <a:p>
            <a:r>
              <a:rPr lang="en-GB" sz="2000" b="1" dirty="0">
                <a:ea typeface="+mn-lt"/>
                <a:cs typeface="+mn-lt"/>
              </a:rPr>
              <a:t>Improvements:</a:t>
            </a:r>
            <a:r>
              <a:rPr lang="en-GB" sz="2000" dirty="0">
                <a:ea typeface="+mn-lt"/>
                <a:cs typeface="+mn-lt"/>
              </a:rPr>
              <a:t> augmentation (+2 %), dropout, LR scheduler.</a:t>
            </a:r>
            <a:br>
              <a:rPr lang="en-GB" sz="2000" dirty="0">
                <a:ea typeface="+mn-lt"/>
                <a:cs typeface="+mn-lt"/>
              </a:rPr>
            </a:br>
            <a:r>
              <a:rPr lang="en-GB" sz="2000" dirty="0">
                <a:ea typeface="+mn-lt"/>
                <a:cs typeface="+mn-lt"/>
              </a:rPr>
              <a:t> Optional small image strip of 4–6 misclassified samples.</a:t>
            </a:r>
            <a:endParaRPr lang="en-GB" sz="2000" dirty="0"/>
          </a:p>
          <a:p>
            <a:endParaRPr lang="en-GB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9720DA-D8F0-19F7-4A39-AB92E91CE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05" y="4185478"/>
            <a:ext cx="10193130" cy="212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6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FDA8-937C-7E11-DC6E-DCE3A77C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ea typeface="+mj-lt"/>
                <a:cs typeface="+mj-lt"/>
              </a:rPr>
              <a:t>Conclusion &amp; Future Work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5712D-85CB-D09A-7F8D-ED0B57CF6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GB" sz="2000" dirty="0"/>
          </a:p>
          <a:p>
            <a:pPr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CNN achieved ~90 % test accuracy</a:t>
            </a:r>
            <a:endParaRPr lang="en-GB" sz="2000" dirty="0"/>
          </a:p>
          <a:p>
            <a:pPr>
              <a:buFont typeface="Arial"/>
              <a:buChar char="•"/>
            </a:pPr>
            <a:endParaRPr lang="en-GB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ANN baseline ≈ 85 %</a:t>
            </a:r>
            <a:endParaRPr lang="en-GB" sz="2000" dirty="0"/>
          </a:p>
          <a:p>
            <a:pPr>
              <a:buFont typeface="Arial"/>
              <a:buChar char="•"/>
            </a:pPr>
            <a:endParaRPr lang="en-GB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Confirmed CNN’s advantage in vision tasks</a:t>
            </a:r>
            <a:endParaRPr lang="en-GB" sz="2000" dirty="0"/>
          </a:p>
          <a:p>
            <a:pPr>
              <a:buFont typeface="Arial"/>
              <a:buChar char="•"/>
            </a:pPr>
            <a:endParaRPr lang="en-GB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Deeper networks (ResNet18)</a:t>
            </a:r>
            <a:endParaRPr lang="en-GB" sz="2000"/>
          </a:p>
          <a:p>
            <a:pPr>
              <a:buFont typeface="Arial"/>
              <a:buChar char="•"/>
            </a:pPr>
            <a:endParaRPr lang="en-GB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Transfer learning experiments</a:t>
            </a:r>
            <a:endParaRPr lang="en-GB" sz="2000"/>
          </a:p>
          <a:p>
            <a:pPr>
              <a:buFont typeface="Arial"/>
              <a:buChar char="•"/>
            </a:pPr>
            <a:endParaRPr lang="en-GB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More augmentation for robustness</a:t>
            </a:r>
            <a:endParaRPr lang="en-GB" sz="200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                         </a:t>
            </a:r>
          </a:p>
        </p:txBody>
      </p:sp>
    </p:spTree>
    <p:extLst>
      <p:ext uri="{BB962C8B-B14F-4D97-AF65-F5344CB8AC3E}">
        <p14:creationId xmlns:p14="http://schemas.microsoft.com/office/powerpoint/2010/main" val="265606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Fashion-MNIST Image Classification using ANN and CNN Architectures</vt:lpstr>
      <vt:lpstr>                                  Introduction</vt:lpstr>
      <vt:lpstr>Objectives</vt:lpstr>
      <vt:lpstr>Dataset &amp; Preprocessing</vt:lpstr>
      <vt:lpstr>Model Architectures</vt:lpstr>
      <vt:lpstr> Training Setup (PyTorch)</vt:lpstr>
      <vt:lpstr>                                        Results</vt:lpstr>
      <vt:lpstr>Confusion Matrices</vt:lpstr>
      <vt:lpstr>Analysis &amp; Discussion</vt:lpstr>
      <vt:lpstr>Conclusion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337</cp:revision>
  <dcterms:created xsi:type="dcterms:W3CDTF">2025-11-03T13:10:14Z</dcterms:created>
  <dcterms:modified xsi:type="dcterms:W3CDTF">2025-11-04T12:48:54Z</dcterms:modified>
</cp:coreProperties>
</file>